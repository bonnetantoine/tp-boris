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5EEA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640080"/>
            <a:ext cx="3200400" cy="3200400"/>
          </a:xfrm>
          <a:prstGeom prst="ellipse">
            <a:avLst/>
          </a:prstGeom>
          <a:solidFill>
            <a:srgbClr val="1B2D42">
              <a:alpha val="80000"/>
            </a:srgbClr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19456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SYSTÈMES DISTRIBUÉS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consensus distribué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aux pannes · Cohérence forte · Accord distribué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Leslie Lamport — 1989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— Pourquoi le consensus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PROBLÉMATIQUE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machines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nœud peut crasher à tout moment sans prévenir les autres.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non fiable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874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messages peuvent être perdus, dupliqués ou réordonnés.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1148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concurrente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processus proposent des valeurs simultanément.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4114800" cy="15087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3566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se mettre d'accord n irréprochables nœuds sur une seule valeur.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36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système distribué est un système dans lequel la panne d'un ordinateur que vous ne savez même pas exister rend votre propre ordinateur inutilisable. »  — L. Lamport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Acteurs de Paxos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RÔLES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43200" cy="3474720"/>
          </a:xfrm>
          <a:prstGeom prst="rect">
            <a:avLst/>
          </a:prstGeom>
          <a:solidFill>
            <a:srgbClr val="1E3A5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7432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Proposer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Propose une valeur à faire accepter.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62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Initie le protocole en deux phases.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66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Peut être n'importe quel nœud.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1325880"/>
            <a:ext cx="2743200" cy="347472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325880"/>
            <a:ext cx="27432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Acceptor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02152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Reçoit et vote pour les propositions.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2152" y="2862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Forment un quorum (majorité).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02152" y="3666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Gardent en mémoire leur dernier vote.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1325880"/>
            <a:ext cx="2743200" cy="3474720"/>
          </a:xfrm>
          <a:prstGeom prst="rect">
            <a:avLst/>
          </a:prstGeom>
          <a:solidFill>
            <a:srgbClr val="1E3A5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1325880"/>
            <a:ext cx="27432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Learner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9944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Apprend la valeur choisie.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9944" y="2862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N'influence pas le consensus.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9944" y="3666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Exécute la décision finale.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Un nœud peut cumuler plusieurs rôles simultanément dans une implémentation réelle.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Prepare / Promise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1 /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88720" cy="1188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45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45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645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1640" y="1920240"/>
            <a:ext cx="3337560" cy="0"/>
          </a:xfrm>
          <a:prstGeom prst="line">
            <a:avLst/>
          </a:prstGeom>
          <a:noFill/>
          <a:ln w="31750">
            <a:solidFill>
              <a:srgbClr val="00C2C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286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① Prepare(n)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2651760"/>
            <a:ext cx="-3703320" cy="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6903720" y="2651760"/>
            <a:ext cx="-5257800" cy="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8458200" y="2651760"/>
            <a:ext cx="-6812280" cy="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ysDot"/>
          </a:ln>
        </p:spPr>
      </p:sp>
      <p:sp>
        <p:nvSpPr>
          <p:cNvPr id="19" name="Text 17"/>
          <p:cNvSpPr/>
          <p:nvPr/>
        </p:nvSpPr>
        <p:spPr>
          <a:xfrm>
            <a:off x="2560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② Promise(n, valeurPrécédente?)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411480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547872"/>
            <a:ext cx="411480" cy="4114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Proposer choisit n (numéro unique)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050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doit être supérieur à tout numéro qu'il a déjà utilisé. Il envoie Prepare(n) à une majorité d'Acceptors.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411480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3547872"/>
            <a:ext cx="411480" cy="4114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547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Acceptors répondent Promise(n)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40050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&gt; nMax connu → ils promettent de ne plus accepter de numéro &lt; n et renvoient leur éventuel vote précédent.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Accept / Accepted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2 /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1188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1188720" cy="11887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91640" y="1874520"/>
            <a:ext cx="3337560" cy="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③ Accept(n, 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2560320"/>
            <a:ext cx="-3703320" cy="64008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560320"/>
            <a:ext cx="-5257800" cy="64008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560320"/>
            <a:ext cx="-6812280" cy="64008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④ Accepted(n, v)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188720" cy="11887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11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1560" y="3886200"/>
            <a:ext cx="402336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8288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⑤ Notifie le Learner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4114800" cy="7315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315968"/>
            <a:ext cx="320040" cy="3200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27939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Accept(n, v) — Le Proposer choisit v = valeur du Promise le plus récent (ou sa propre valeur si aucun). Envoie Accept(n, v) à la majorité.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4251960"/>
            <a:ext cx="4114800" cy="7315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4315968"/>
            <a:ext cx="320040" cy="32004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427939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Accepted(n, v) — Si n ≥ nMax, l'Acceptor accepte. Il notifie le Proposer et les Learners. Une majorité = valeur choisie 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formelles de Paxos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PROPRIÉTÉS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1691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4114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0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valeur peut être choisie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proposée par un Proposer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9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nœud apprend au plus une valeur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4114800" cy="1691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41148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80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Vivacité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856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majorité est disponible → consensus atteint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212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condition de stabilité réseau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69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au problème des 2 leaders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114800" cy="1691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9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Tolérance pannes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à n pannes si 2n+1 nœuds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de crash (pas byzantines)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98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panne permanente du leader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154680"/>
            <a:ext cx="4114800" cy="1691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54680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9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CAP Theorem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Faveur à Cohérence (C) et Tolérance (P)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Sacrifie la Disponibilité (A) si partition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398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dans la classification CAP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en pratique — Cas d'usage réels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IMPLÉMENTATIONS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743200" cy="365760"/>
          </a:xfrm>
          <a:prstGeom prst="rect">
            <a:avLst/>
          </a:prstGeom>
          <a:solidFill>
            <a:srgbClr val="EA43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62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Chubby / Spanner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6479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service distribué et base de données globalement distribuée. Paxos pour la réplication de logs entre datacenters.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325880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62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— Zookeeper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76479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 clusters (Kafka, HBase, Hadoop). Utilise ZAB (Zookeeper Atomic Broadcast), variante de Paxos.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132588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325880"/>
            <a:ext cx="274320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362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— Kubernetes etcd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176479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clé-valeur du control plane K8s. Utilise Raft (simplifié de Paxos) pour la cohérence du cluster.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45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— CockroachDB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5478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 distribuée multi-régions. Paxos par partition pour les transactions ACID globales.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310896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64992" y="310896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145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— Apache Cassandra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5478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Transactions (LWT) implémentent Paxos pour garantir la cohérence des écritures conditionnelles.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3108960"/>
            <a:ext cx="274320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2784" y="3108960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3145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DynamoDB / Aurora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354787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entre réplicas de stockage. Multi-Paxos pour la réplication du journal de transactions.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et évolutions de Paxos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VARIANTES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0312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011680" cy="2331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Paxos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originale de Lamport. Consensus pour une seule valeur. Base théorique de tous les algorithmes.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~1998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606040"/>
            <a:ext cx="2011680" cy="2331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60604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Multi-Paxos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04495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de Basic Paxos. Leader stable pour plusieurs rounds. Optimal en production (log réplication).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21031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2011680" cy="2331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06040"/>
            <a:ext cx="201168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Paxos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04495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en un seul round réseau si pas de conflit. Réduit la latence dans les cas favorables.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210312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783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2606040"/>
            <a:ext cx="2011680" cy="23317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40880" y="2606040"/>
            <a:ext cx="20116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624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044952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simplifié et compréhensible. Leader élection explicite. Utilisé par etcd, CockroachDB, TiDB.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difficultés de Paxos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LIMITES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connues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4114800" cy="804672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43560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de compréhension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Lamport lui-même a dit que Paxos était difficile à comprendre et à implémenter correctement.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804672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Livelock possible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proposers concurrents peuvent se bloquer indéfiniment (Dueling Leaders).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4114800" cy="804672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22783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des allers-retours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Paxos nécessite 2 tours réseau minimum, même pour une seule valeur.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4114800" cy="804672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123944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fautes byzantines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ne tolère que les pannes franches (crash), pas les nœuds malveillants ou corrompus.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Théorèmes fondamentaux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389888"/>
            <a:ext cx="384048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89888"/>
            <a:ext cx="3840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08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Théorème FLP (1985)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8288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impossible d'atteindre le consensus en un temps fini dans un système asynchrone avec une seule panne de crash. Paxos contourne ce problème en acceptant un délai non borné.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840480" cy="1691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46120"/>
            <a:ext cx="38404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64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du quorum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68503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nécessite une majorité stricte : ⌊N/2⌋ + 1 nœuds doivent répondre pour former un quorum. Exemple : 5 nœuds → quorum = 3. Garantit qu'au moins un nœud commun entre deux quorums.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SYNTHÈSE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Paxos en résumé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référence du consensus distribué depuis 1989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la sécurité (cohérence) au détriment de la disponibilité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5117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phases : Prepare/Promise puis Accept/Accepted + quorum majoritaire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26664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aux pannes de crash : fonctionne avec ⌊N/2⌋ + 1 nœuds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50215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Raft, ZAB, Spanner, etcd et de nombreux systèmes de prod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 à implémenter correctement — préférer Raft en pratique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51713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Paxos est l'unique algorithme de consensus tolérant aux fautes. Tout autre algorithme correct est une optimisation de Paxos. »  — Mike Burrows (Google)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Paxos – Algorithme de consensus distribué</dc:title>
  <dc:subject>PptxGenJS Presentation</dc:subject>
  <dc:creator>PptxGenJS</dc:creator>
  <cp:lastModifiedBy>PptxGenJS</cp:lastModifiedBy>
  <cp:revision>1</cp:revision>
  <dcterms:created xsi:type="dcterms:W3CDTF">2026-04-13T07:04:56Z</dcterms:created>
  <dcterms:modified xsi:type="dcterms:W3CDTF">2026-04-13T07:04:56Z</dcterms:modified>
</cp:coreProperties>
</file>